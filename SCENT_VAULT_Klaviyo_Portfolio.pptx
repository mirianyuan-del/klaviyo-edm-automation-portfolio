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9" y="0"/>
            <a:ext cx="4700016" cy="6858000"/>
          </a:xfrm>
          <a:prstGeom prst="rect">
            <a:avLst/>
          </a:prstGeom>
          <a:solidFill>
            <a:srgbClr val="202725"/>
          </a:solidFill>
          <a:ln w="10160">
            <a:solidFill>
              <a:srgbClr val="202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>
                <a:solidFill>
                  <a:srgbClr val="202725"/>
                </a:solidFill>
                <a:latin typeface="微软雅黑" panose="020B0503020204020204" charset="-122"/>
              </a:rPr>
              <a:t>SCENT
VAULT</a:t>
            </a:r>
            <a:endParaRPr sz="39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715000" cy="768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02725"/>
                </a:solidFill>
                <a:latin typeface="微软雅黑" panose="020B0503020204020204" charset="-122"/>
              </a:rPr>
              <a:t>Klaviyo 用户生命周期营销自动</a:t>
            </a:r>
            <a:endParaRPr sz="2500" b="1">
              <a:solidFill>
                <a:srgbClr val="202725"/>
              </a:solidFill>
              <a:latin typeface="微软雅黑" panose="020B0503020204020204" charset="-122"/>
            </a:endParaRPr>
          </a:p>
          <a:p>
            <a:pPr algn="l"/>
            <a:r>
              <a:rPr sz="2500" b="1">
                <a:solidFill>
                  <a:srgbClr val="202725"/>
                </a:solidFill>
                <a:latin typeface="微软雅黑" panose="020B0503020204020204" charset="-122"/>
              </a:rPr>
              <a:t>化模拟项目</a:t>
            </a:r>
            <a:endParaRPr sz="25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3035808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9746D"/>
                </a:solidFill>
                <a:latin typeface="微软雅黑" panose="020B0503020204020204" charset="-122"/>
              </a:rPr>
              <a:t>从订阅、浏览、弃购到复购的 CRM / EDM 作品集案例</a:t>
            </a:r>
            <a:endParaRPr sz="13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41248" y="3749039"/>
            <a:ext cx="2377440" cy="2560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762755"/>
            <a:ext cx="237744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79761"/>
                </a:solidFill>
                <a:latin typeface="微软雅黑" panose="020B0503020204020204" charset="-122"/>
              </a:rPr>
              <a:t>PORTFOLIO CASE · SIMULATED</a:t>
            </a:r>
            <a:endParaRPr sz="9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4251960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526263"/>
                </a:solidFill>
                <a:latin typeface="微软雅黑" panose="020B0503020204020204" charset="-122"/>
              </a:rPr>
              <a:t>Shopify  ·  Klaviyo  ·  Segmentation  ·  Flow Design</a:t>
            </a:r>
            <a:endParaRPr sz="1100" b="1">
              <a:solidFill>
                <a:srgbClr val="52626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598932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9746D"/>
                </a:solidFill>
                <a:latin typeface="微软雅黑" panose="020B0503020204020204" charset="-122"/>
              </a:rPr>
              <a:t>A considered scent for every stage of the customer journey.</a:t>
            </a:r>
            <a:endParaRPr sz="10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pic>
        <p:nvPicPr>
          <p:cNvPr id="10" name="Picture 9" descr="D:/办公专用文件夹/图片/7.jpg7"/>
          <p:cNvPicPr>
            <a:picLocks noChangeAspect="1"/>
          </p:cNvPicPr>
          <p:nvPr/>
        </p:nvPicPr>
        <p:blipFill>
          <a:blip r:embed="rId1"/>
          <a:srcRect t="19818" b="19818"/>
          <a:stretch>
            <a:fillRect/>
          </a:stretch>
        </p:blipFill>
        <p:spPr>
          <a:xfrm>
            <a:off x="5446685" y="0"/>
            <a:ext cx="8802805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65008" y="507492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CRM / EDM
AUTOMATION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83296" y="610819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4E8D8"/>
                </a:solidFill>
                <a:latin typeface="微软雅黑" panose="020B0503020204020204" charset="-122"/>
              </a:rPr>
              <a:t>01 — 08</a:t>
            </a:r>
            <a:endParaRPr sz="1000" b="1">
              <a:solidFill>
                <a:srgbClr val="F4E8D8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63840" y="6565392"/>
            <a:ext cx="374903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9746D"/>
                </a:solidFill>
                <a:latin typeface="微软雅黑" panose="020B0503020204020204" charset="-122"/>
              </a:rPr>
              <a:t>仅用于作品集展示，不代表真实商业业绩</a:t>
            </a:r>
            <a:endParaRPr sz="8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SCENT VAULT  /  CONTEXT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9746D"/>
                </a:solidFill>
                <a:latin typeface="微软雅黑" panose="020B0503020204020204" charset="-122"/>
              </a:rPr>
              <a:t>02</a:t>
            </a:r>
            <a:endParaRPr sz="1000" b="1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02725"/>
                </a:solidFill>
                <a:latin typeface="微软雅黑" panose="020B0503020204020204" charset="-122"/>
              </a:rPr>
              <a:t>业务背景与项目目标</a:t>
            </a:r>
            <a:endParaRPr sz="25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46D"/>
                </a:solidFill>
                <a:latin typeface="微软雅黑" panose="020B0503020204020204" charset="-122"/>
              </a:rPr>
              <a:t>把用户行为转化成可执行、可衡量的生命周期沟通</a:t>
            </a:r>
            <a:endParaRPr sz="11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1018520" cy="13716"/>
          </a:xfrm>
          <a:prstGeom prst="rect">
            <a:avLst/>
          </a:prstGeom>
          <a:solidFill>
            <a:srgbClr val="D9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56231"/>
            <a:ext cx="50749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2725"/>
                </a:solidFill>
                <a:latin typeface="微软雅黑" panose="020B0503020204020204" charset="-122"/>
              </a:rPr>
              <a:t>业务问题</a:t>
            </a:r>
            <a:endParaRPr sz="14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202725"/>
                </a:solidFill>
                <a:latin typeface="微软雅黑" panose="020B0503020204020204" charset="-122"/>
              </a:rPr>
              <a:t>如何把匿名访客和一次性购买用户，
转化为可识别、可复购的用户？</a:t>
            </a:r>
            <a:endParaRPr sz="19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5844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2725"/>
                </a:solidFill>
                <a:latin typeface="微软雅黑" panose="020B0503020204020204" charset="-122"/>
              </a:rPr>
              <a:t>项目目标</a:t>
            </a:r>
            <a:endParaRPr sz="14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718071"/>
                </a:solidFill>
                <a:latin typeface="微软雅黑" panose="020B0503020204020204" charset="-122"/>
              </a:rPr>
              <a:t>•</a:t>
            </a:r>
            <a:endParaRPr sz="135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41605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725"/>
                </a:solidFill>
                <a:latin typeface="微软雅黑" panose="020B0503020204020204" charset="-122"/>
              </a:rPr>
              <a:t>建立 Newsletter 订阅入口和营销许可逻辑</a:t>
            </a:r>
            <a:endParaRPr sz="115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4279392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718071"/>
                </a:solidFill>
                <a:latin typeface="微软雅黑" panose="020B0503020204020204" charset="-122"/>
              </a:rPr>
              <a:t>•</a:t>
            </a:r>
            <a:endParaRPr sz="135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4279392"/>
            <a:ext cx="41605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725"/>
                </a:solidFill>
                <a:latin typeface="微软雅黑" panose="020B0503020204020204" charset="-122"/>
              </a:rPr>
              <a:t>用行为触发四条 Klaviyo 自动化 Flow</a:t>
            </a:r>
            <a:endParaRPr sz="115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4581144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718071"/>
                </a:solidFill>
                <a:latin typeface="微软雅黑" panose="020B0503020204020204" charset="-122"/>
              </a:rPr>
              <a:t>•</a:t>
            </a:r>
            <a:endParaRPr sz="135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4581144"/>
            <a:ext cx="41605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725"/>
                </a:solidFill>
                <a:latin typeface="微软雅黑" panose="020B0503020204020204" charset="-122"/>
              </a:rPr>
              <a:t>在购买后切换沟通内容，减少无效打扰</a:t>
            </a:r>
            <a:endParaRPr sz="115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4882896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718071"/>
                </a:solidFill>
                <a:latin typeface="微软雅黑" panose="020B0503020204020204" charset="-122"/>
              </a:rPr>
              <a:t>•</a:t>
            </a:r>
            <a:endParaRPr sz="135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4882896"/>
            <a:ext cx="41605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725"/>
                </a:solidFill>
                <a:latin typeface="微软雅黑" panose="020B0503020204020204" charset="-122"/>
              </a:rPr>
              <a:t>用 CTR、转化、RPR、复购和退订率衡量效果</a:t>
            </a:r>
            <a:endParaRPr sz="115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61888" y="1856231"/>
            <a:ext cx="5650992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1275" y="2241550"/>
            <a:ext cx="5074920" cy="278765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_shopify_storefro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0766" y="2011680"/>
            <a:ext cx="3873234" cy="30175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99632" y="5212080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02725"/>
                </a:solidFill>
                <a:latin typeface="微软雅黑" panose="020B0503020204020204" charset="-122"/>
              </a:rPr>
              <a:t>模拟资产：Shopify 开发测试店</a:t>
            </a:r>
            <a:endParaRPr sz="11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99632" y="555955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9746D"/>
                </a:solidFill>
                <a:latin typeface="微软雅黑" panose="020B0503020204020204" charset="-122"/>
              </a:rPr>
              <a:t>虚拟美国 DTC 家居香氛品牌 · 三款概念产品 · Shopify-to-Klaviyo</a:t>
            </a:r>
            <a:endParaRPr sz="10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SCENT VAULT  /  DATA &amp; SEGMENTATION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9746D"/>
                </a:solidFill>
                <a:latin typeface="微软雅黑" panose="020B0503020204020204" charset="-122"/>
              </a:rPr>
              <a:t>03</a:t>
            </a:r>
            <a:endParaRPr sz="1000" b="1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02725"/>
                </a:solidFill>
                <a:latin typeface="微软雅黑" panose="020B0503020204020204" charset="-122"/>
              </a:rPr>
              <a:t>数据、营销许可与用户分层</a:t>
            </a:r>
            <a:endParaRPr sz="25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46D"/>
                </a:solidFill>
                <a:latin typeface="微软雅黑" panose="020B0503020204020204" charset="-122"/>
              </a:rPr>
              <a:t>先确认用户身份和许可，再根据行为与价值进入不同策略</a:t>
            </a:r>
            <a:endParaRPr sz="11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1018520" cy="13716"/>
          </a:xfrm>
          <a:prstGeom prst="rect">
            <a:avLst/>
          </a:prstGeom>
          <a:solidFill>
            <a:srgbClr val="D9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743200" cy="4069080"/>
          </a:xfrm>
          <a:prstGeom prst="roundRect">
            <a:avLst/>
          </a:prstGeom>
          <a:solidFill>
            <a:srgbClr val="E7EEE8"/>
          </a:solidFill>
          <a:ln w="10160">
            <a:solidFill>
              <a:srgbClr val="E7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718071"/>
                </a:solidFill>
                <a:latin typeface="微软雅黑" panose="020B0503020204020204" charset="-122"/>
              </a:rPr>
              <a:t>核心 List</a:t>
            </a:r>
            <a:endParaRPr sz="12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02725"/>
                </a:solidFill>
                <a:latin typeface="微软雅黑" panose="020B0503020204020204" charset="-122"/>
              </a:rPr>
              <a:t>Newsletter - US</a:t>
            </a:r>
            <a:endParaRPr sz="20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3182112"/>
            <a:ext cx="20116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725"/>
                </a:solidFill>
                <a:latin typeface="微软雅黑" panose="020B0503020204020204" charset="-122"/>
              </a:rPr>
              <a:t>Shopify 前台邮箱订阅
→ 同步至 Klaviyo
→ 作为 Welcome Flow 入口</a:t>
            </a:r>
            <a:endParaRPr sz="12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718071"/>
                </a:solidFill>
                <a:latin typeface="微软雅黑" panose="020B0503020204020204" charset="-122"/>
              </a:rPr>
              <a:t>许可原则</a:t>
            </a:r>
            <a:endParaRPr sz="11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51023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202725"/>
                </a:solidFill>
                <a:latin typeface="微软雅黑" panose="020B0503020204020204" charset="-122"/>
              </a:rPr>
              <a:t>仅向已同意接收营销邮件的用户发送营销 Flow。</a:t>
            </a:r>
            <a:endParaRPr sz="105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11880" y="1874519"/>
            <a:ext cx="8001000" cy="11704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20574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2725"/>
                </a:solidFill>
                <a:latin typeface="微软雅黑" panose="020B0503020204020204" charset="-122"/>
              </a:rPr>
              <a:t>VIP Customers</a:t>
            </a:r>
            <a:endParaRPr sz="14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4768" y="20574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526263"/>
                </a:solidFill>
                <a:latin typeface="微软雅黑" panose="020B0503020204020204" charset="-122"/>
              </a:rPr>
              <a:t>历史至少 2 次 Placed Order</a:t>
            </a:r>
            <a:endParaRPr sz="1050" b="1">
              <a:solidFill>
                <a:srgbClr val="526263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2432303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9746D"/>
                </a:solidFill>
                <a:latin typeface="微软雅黑" panose="020B0503020204020204" charset="-122"/>
              </a:rPr>
              <a:t>新品优先、专属内容和服务型权益</a:t>
            </a:r>
            <a:endParaRPr sz="105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11880" y="3246120"/>
            <a:ext cx="8001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34290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2725"/>
                </a:solidFill>
                <a:latin typeface="微软雅黑" panose="020B0503020204020204" charset="-122"/>
              </a:rPr>
              <a:t>At Risk - 60 Days</a:t>
            </a:r>
            <a:endParaRPr sz="14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44768" y="34290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526263"/>
                </a:solidFill>
                <a:latin typeface="微软雅黑" panose="020B0503020204020204" charset="-122"/>
              </a:rPr>
              <a:t>至少购买 1 次 + 60 天未下单</a:t>
            </a:r>
            <a:endParaRPr sz="1050" b="1">
              <a:solidFill>
                <a:srgbClr val="526263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380390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9746D"/>
                </a:solidFill>
                <a:latin typeface="微软雅黑" panose="020B0503020204020204" charset="-122"/>
              </a:rPr>
              <a:t>按购买历史和用户价值召回</a:t>
            </a:r>
            <a:endParaRPr sz="105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11880" y="4617720"/>
            <a:ext cx="8001000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48006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2725"/>
                </a:solidFill>
                <a:latin typeface="微软雅黑" panose="020B0503020204020204" charset="-122"/>
              </a:rPr>
              <a:t>Sunset Hold</a:t>
            </a:r>
            <a:endParaRPr sz="14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44768" y="48006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526263"/>
                </a:solidFill>
                <a:latin typeface="微软雅黑" panose="020B0503020204020204" charset="-122"/>
              </a:rPr>
              <a:t>90 天收到 ≥5 封且 0 点击、0 下单</a:t>
            </a:r>
            <a:endParaRPr sz="1050" b="1">
              <a:solidFill>
                <a:srgbClr val="526263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517550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9746D"/>
                </a:solidFill>
                <a:latin typeface="微软雅黑" panose="020B0503020204020204" charset="-122"/>
              </a:rPr>
              <a:t>抑制促销触达，保护名单质量</a:t>
            </a:r>
            <a:endParaRPr sz="105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39312" y="605332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9746D"/>
                </a:solidFill>
                <a:latin typeface="微软雅黑" panose="020B0503020204020204" charset="-122"/>
              </a:rPr>
              <a:t>阈值为作品集演示设定；真实业务中应依据 RFM / LTV 分布与品类购买周期校准。</a:t>
            </a:r>
            <a:endParaRPr sz="9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SCENT VAULT  /  LIFECYCLE FLOW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9746D"/>
                </a:solidFill>
                <a:latin typeface="微软雅黑" panose="020B0503020204020204" charset="-122"/>
              </a:rPr>
              <a:t>04</a:t>
            </a:r>
            <a:endParaRPr sz="1000" b="1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02725"/>
                </a:solidFill>
                <a:latin typeface="微软雅黑" panose="020B0503020204020204" charset="-122"/>
              </a:rPr>
              <a:t>Welcome Flow｜新订阅欢迎</a:t>
            </a:r>
            <a:endParaRPr sz="25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46D"/>
                </a:solidFill>
                <a:latin typeface="微软雅黑" panose="020B0503020204020204" charset="-122"/>
              </a:rPr>
              <a:t>触发器：Added to List → Newsletter - US · 目标：建立品牌认知并推动首购</a:t>
            </a:r>
            <a:endParaRPr sz="11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1018520" cy="13716"/>
          </a:xfrm>
          <a:prstGeom prst="rect">
            <a:avLst/>
          </a:prstGeom>
          <a:solidFill>
            <a:srgbClr val="D9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8404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5810" y="2138045"/>
            <a:ext cx="3513455" cy="396113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welcome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1938528"/>
            <a:ext cx="267462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18470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2725"/>
                </a:solidFill>
                <a:latin typeface="微软雅黑" panose="020B0503020204020204" charset="-122"/>
              </a:rPr>
              <a:t>策略拆解</a:t>
            </a:r>
            <a:endParaRPr sz="14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00600" y="2267712"/>
            <a:ext cx="1097280" cy="2560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281428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79761"/>
                </a:solidFill>
                <a:latin typeface="微软雅黑" panose="020B0503020204020204" charset="-122"/>
              </a:rPr>
              <a:t>触发</a:t>
            </a:r>
            <a:endParaRPr sz="9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53328" y="2258568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用户订阅 Newsletter 后进入流程，先确认营销许可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00600" y="2980944"/>
            <a:ext cx="1097280" cy="2560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94660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79761"/>
                </a:solidFill>
                <a:latin typeface="微软雅黑" panose="020B0503020204020204" charset="-122"/>
              </a:rPr>
              <a:t>10 分钟</a:t>
            </a:r>
            <a:endParaRPr sz="9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53328" y="2971800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邮件 1：品牌介绍 + 首单 10% 激励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00600" y="3694176"/>
            <a:ext cx="1097280" cy="2560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707891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79761"/>
                </a:solidFill>
                <a:latin typeface="微软雅黑" panose="020B0503020204020204" charset="-122"/>
              </a:rPr>
              <a:t>+2 天</a:t>
            </a:r>
            <a:endParaRPr sz="9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53328" y="3685032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若未购买，发送香味教育与使用场景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00600" y="4407408"/>
            <a:ext cx="1097280" cy="2560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421124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79761"/>
                </a:solidFill>
                <a:latin typeface="微软雅黑" panose="020B0503020204020204" charset="-122"/>
              </a:rPr>
              <a:t>再 +2 天</a:t>
            </a:r>
            <a:endParaRPr sz="9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53328" y="4398264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评价、FAQ 和推荐，降低购买顾虑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800600" y="4983480"/>
            <a:ext cx="6263640" cy="1097280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519379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79761"/>
                </a:solidFill>
                <a:latin typeface="微软雅黑" panose="020B0503020204020204" charset="-122"/>
              </a:rPr>
              <a:t>Welcome email 1</a:t>
            </a:r>
            <a:endParaRPr sz="10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0" y="548640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725"/>
                </a:solidFill>
                <a:latin typeface="微软雅黑" panose="020B0503020204020204" charset="-122"/>
              </a:rPr>
              <a:t>A calmer home starts here — enjoy 10% off</a:t>
            </a:r>
            <a:endParaRPr sz="13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29200" y="5779008"/>
            <a:ext cx="5669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9746D"/>
                </a:solidFill>
                <a:latin typeface="微软雅黑" panose="020B0503020204020204" charset="-122"/>
              </a:rPr>
              <a:t>Preheader: Thoughtful scents for everyday rituals.  ·  CTA: Explore the collection</a:t>
            </a:r>
            <a:endParaRPr sz="95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SCENT VAULT  /  LIFECYCLE FLOW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9746D"/>
                </a:solidFill>
                <a:latin typeface="微软雅黑" panose="020B0503020204020204" charset="-122"/>
              </a:rPr>
              <a:t>05</a:t>
            </a:r>
            <a:endParaRPr sz="1000" b="1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02725"/>
                </a:solidFill>
                <a:latin typeface="微软雅黑" panose="020B0503020204020204" charset="-122"/>
              </a:rPr>
              <a:t>Abandoned Checkout Flow｜弃购挽回</a:t>
            </a:r>
            <a:endParaRPr sz="25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46D"/>
                </a:solidFill>
                <a:latin typeface="微软雅黑" panose="020B0503020204020204" charset="-122"/>
              </a:rPr>
              <a:t>触发器：Started Checkout · 目标：回答购买顾虑，并在有效时间内挽回订单</a:t>
            </a:r>
            <a:endParaRPr sz="11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1018520" cy="13716"/>
          </a:xfrm>
          <a:prstGeom prst="rect">
            <a:avLst/>
          </a:prstGeom>
          <a:solidFill>
            <a:srgbClr val="D9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8404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938528"/>
            <a:ext cx="3529584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abandoned_checkout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1938528"/>
            <a:ext cx="267462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18470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2725"/>
                </a:solidFill>
                <a:latin typeface="微软雅黑" panose="020B0503020204020204" charset="-122"/>
              </a:rPr>
              <a:t>策略拆解</a:t>
            </a:r>
            <a:endParaRPr sz="14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00600" y="2267712"/>
            <a:ext cx="1097280" cy="256032"/>
          </a:xfrm>
          <a:prstGeom prst="roundRect">
            <a:avLst/>
          </a:prstGeom>
          <a:solidFill>
            <a:srgbClr val="E7EEE8"/>
          </a:solidFill>
          <a:ln w="10160">
            <a:solidFill>
              <a:srgbClr val="E7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281428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30 分钟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53328" y="2258568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邮件 1：温和提醒用户回到结账页面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00600" y="2980944"/>
            <a:ext cx="1097280" cy="256032"/>
          </a:xfrm>
          <a:prstGeom prst="roundRect">
            <a:avLst/>
          </a:prstGeom>
          <a:solidFill>
            <a:srgbClr val="E7EEE8"/>
          </a:solidFill>
          <a:ln w="10160">
            <a:solidFill>
              <a:srgbClr val="E7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94660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20 小时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53328" y="2971800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若仍未购买，补充配送、退换和香味 FAQ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00600" y="3694176"/>
            <a:ext cx="1097280" cy="256032"/>
          </a:xfrm>
          <a:prstGeom prst="roundRect">
            <a:avLst/>
          </a:prstGeom>
          <a:solidFill>
            <a:srgbClr val="E7EEE8"/>
          </a:solidFill>
          <a:ln w="10160">
            <a:solidFill>
              <a:srgbClr val="E7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707891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+24 小时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53328" y="3685032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最后一次检查购买状态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00600" y="4407408"/>
            <a:ext cx="1097280" cy="256032"/>
          </a:xfrm>
          <a:prstGeom prst="roundRect">
            <a:avLst/>
          </a:prstGeom>
          <a:solidFill>
            <a:srgbClr val="E7EEE8"/>
          </a:solidFill>
          <a:ln w="10160">
            <a:solidFill>
              <a:srgbClr val="E7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421124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48 小时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53328" y="4398264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发送明确有效期的 10% 优惠；不虚构库存紧张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SCENT VAULT  /  LIFECYCLE FLOW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9746D"/>
                </a:solidFill>
                <a:latin typeface="微软雅黑" panose="020B0503020204020204" charset="-122"/>
              </a:rPr>
              <a:t>06</a:t>
            </a:r>
            <a:endParaRPr sz="1000" b="1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02725"/>
                </a:solidFill>
                <a:latin typeface="微软雅黑" panose="020B0503020204020204" charset="-122"/>
              </a:rPr>
              <a:t>Post-purchase Flow｜购后运营</a:t>
            </a:r>
            <a:endParaRPr sz="25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46D"/>
                </a:solidFill>
                <a:latin typeface="微软雅黑" panose="020B0503020204020204" charset="-122"/>
              </a:rPr>
              <a:t>触发器：Placed Order · 目标：帮助正确使用、收集评价并推动关联购买</a:t>
            </a:r>
            <a:endParaRPr sz="11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1018520" cy="13716"/>
          </a:xfrm>
          <a:prstGeom prst="rect">
            <a:avLst/>
          </a:prstGeom>
          <a:solidFill>
            <a:srgbClr val="D9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8404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938528"/>
            <a:ext cx="3529584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post_purchase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1938528"/>
            <a:ext cx="267462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18470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2725"/>
                </a:solidFill>
                <a:latin typeface="微软雅黑" panose="020B0503020204020204" charset="-122"/>
              </a:rPr>
              <a:t>策略拆解</a:t>
            </a:r>
            <a:endParaRPr sz="14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00600" y="2267712"/>
            <a:ext cx="1097280" cy="2560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281428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79761"/>
                </a:solidFill>
                <a:latin typeface="微软雅黑" panose="020B0503020204020204" charset="-122"/>
              </a:rPr>
              <a:t>+3 天</a:t>
            </a:r>
            <a:endParaRPr sz="9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53328" y="2258568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蜡烛使用与养护指南，降低因使用不当产生的不满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00600" y="2980944"/>
            <a:ext cx="1097280" cy="2560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94660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79761"/>
                </a:solidFill>
                <a:latin typeface="微软雅黑" panose="020B0503020204020204" charset="-122"/>
              </a:rPr>
              <a:t>+10 天</a:t>
            </a:r>
            <a:endParaRPr sz="9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53328" y="2971800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评价邀请，在用户有体验后收集反馈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00600" y="3694176"/>
            <a:ext cx="1097280" cy="2560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707891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79761"/>
                </a:solidFill>
                <a:latin typeface="微软雅黑" panose="020B0503020204020204" charset="-122"/>
              </a:rPr>
              <a:t>+30 天</a:t>
            </a:r>
            <a:endParaRPr sz="9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53328" y="3685032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根据已购产品推荐互补香味或相关产品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00600" y="4407408"/>
            <a:ext cx="1097280" cy="256032"/>
          </a:xfrm>
          <a:prstGeom prst="roundRect">
            <a:avLst/>
          </a:prstGeom>
          <a:solidFill>
            <a:srgbClr val="F4E8D8"/>
          </a:solidFill>
          <a:ln w="10160">
            <a:solidFill>
              <a:srgbClr val="F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421124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C79761"/>
                </a:solidFill>
                <a:latin typeface="微软雅黑" panose="020B0503020204020204" charset="-122"/>
              </a:rPr>
              <a:t>+60 天</a:t>
            </a:r>
            <a:endParaRPr sz="900" b="1">
              <a:solidFill>
                <a:srgbClr val="C7976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53328" y="4398264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补充装、复购或新品提醒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SCENT VAULT  /  LIFECYCLE FLOW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0" y="2560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>
                <a:solidFill>
                  <a:srgbClr val="69746D"/>
                </a:solidFill>
                <a:latin typeface="微软雅黑" panose="020B0503020204020204" charset="-122"/>
              </a:rPr>
              <a:t>07</a:t>
            </a:r>
            <a:endParaRPr sz="1000" b="1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202725"/>
                </a:solidFill>
                <a:latin typeface="微软雅黑" panose="020B0503020204020204" charset="-122"/>
              </a:rPr>
              <a:t>Win-back Flow｜沉默用户召回</a:t>
            </a:r>
            <a:endParaRPr sz="25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22529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9746D"/>
                </a:solidFill>
                <a:latin typeface="微软雅黑" panose="020B0503020204020204" charset="-122"/>
              </a:rPr>
              <a:t>触发器：Person enters a segment → At Risk - 60 Days · 目标：按价值召回，避免无差别发券</a:t>
            </a:r>
            <a:endParaRPr sz="1100" b="0">
              <a:solidFill>
                <a:srgbClr val="69746D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72768"/>
            <a:ext cx="11018520" cy="13716"/>
          </a:xfrm>
          <a:prstGeom prst="rect">
            <a:avLst/>
          </a:prstGeom>
          <a:solidFill>
            <a:srgbClr val="D9D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384048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938528"/>
            <a:ext cx="3529584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winback_vip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1938528"/>
            <a:ext cx="267462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18470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02725"/>
                </a:solidFill>
                <a:latin typeface="微软雅黑" panose="020B0503020204020204" charset="-122"/>
              </a:rPr>
              <a:t>策略拆解</a:t>
            </a:r>
            <a:endParaRPr sz="1400" b="1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00600" y="2267712"/>
            <a:ext cx="1097280" cy="256032"/>
          </a:xfrm>
          <a:prstGeom prst="roundRect">
            <a:avLst/>
          </a:prstGeom>
          <a:solidFill>
            <a:srgbClr val="E7EEE8"/>
          </a:solidFill>
          <a:ln w="10160">
            <a:solidFill>
              <a:srgbClr val="E7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281428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VIP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53328" y="2258568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新品预览、优先购买或服务型权益，不一开始就打折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00600" y="2980944"/>
            <a:ext cx="1097280" cy="256032"/>
          </a:xfrm>
          <a:prstGeom prst="roundRect">
            <a:avLst/>
          </a:prstGeom>
          <a:solidFill>
            <a:srgbClr val="E7EEE8"/>
          </a:solidFill>
          <a:ln w="10160">
            <a:solidFill>
              <a:srgbClr val="E7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94660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普通用户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53328" y="2971800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个性化推荐 + 模拟 10% 复购优惠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00600" y="3694176"/>
            <a:ext cx="1097280" cy="256032"/>
          </a:xfrm>
          <a:prstGeom prst="roundRect">
            <a:avLst/>
          </a:prstGeom>
          <a:solidFill>
            <a:srgbClr val="E7EEE8"/>
          </a:solidFill>
          <a:ln w="10160">
            <a:solidFill>
              <a:srgbClr val="E7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707891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5 天后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53328" y="3685032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仍未购买则发送最后提醒，然后停止流程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00600" y="4407408"/>
            <a:ext cx="1097280" cy="256032"/>
          </a:xfrm>
          <a:prstGeom prst="roundRect">
            <a:avLst/>
          </a:prstGeom>
          <a:solidFill>
            <a:srgbClr val="E7EEE8"/>
          </a:solidFill>
          <a:ln w="10160">
            <a:solidFill>
              <a:srgbClr val="E7E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421124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718071"/>
                </a:solidFill>
                <a:latin typeface="微软雅黑" panose="020B0503020204020204" charset="-122"/>
              </a:rPr>
              <a:t>抑制</a:t>
            </a:r>
            <a:endParaRPr sz="900" b="1">
              <a:solidFill>
                <a:srgbClr val="71807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53328" y="4398264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202725"/>
                </a:solidFill>
                <a:latin typeface="微软雅黑" panose="020B0503020204020204" charset="-122"/>
              </a:rPr>
              <a:t>长期无点击、无购买 → Sunset Hold，排除后续促销</a:t>
            </a:r>
            <a:endParaRPr sz="1100" b="0">
              <a:solidFill>
                <a:srgbClr val="20272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1805</Words>
  <Application>WPS 演示</Application>
  <PresentationFormat>On-screen Show (4:3)</PresentationFormat>
  <Paragraphs>201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袁妙贞</cp:lastModifiedBy>
  <cp:revision>2</cp:revision>
  <dcterms:created xsi:type="dcterms:W3CDTF">2013-01-27T09:14:00Z</dcterms:created>
  <dcterms:modified xsi:type="dcterms:W3CDTF">2026-10-14T15:23:26Z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BDD5448069C14481B925F57851B6E90F_12</vt:lpwstr>
  </property>
</Properties>
</file>